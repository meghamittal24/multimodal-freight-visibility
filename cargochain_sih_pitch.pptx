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645920"/>
            <a:ext cx="4114800" cy="36576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4114800" cy="365760"/>
          </a:xfrm>
          <a:prstGeom prst="rect">
            <a:avLst/>
          </a:prstGeom>
          <a:noFill/>
        </p:spPr>
        <p:txBody>
          <a:bodyPr wrap="none" lIns="182880" tIns="73152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Segoe UI"/>
              </a:defRPr>
            </a:pPr>
            <a:r>
              <a:t>SMART INDIA HACKATHON 2026 | LOGISTICS SECTOR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400" b="1">
                <a:solidFill>
                  <a:srgbClr val="F1F5F9"/>
                </a:solidFill>
                <a:latin typeface="Segoe UI"/>
              </a:defRPr>
            </a:pPr>
            <a:r>
              <a:t>CargoChain</a:t>
            </a:r>
          </a:p>
          <a:p>
            <a:pPr>
              <a:spcBef>
                <a:spcPts val="1000"/>
              </a:spcBef>
              <a:defRPr sz="2800" b="1">
                <a:solidFill>
                  <a:srgbClr val="14B8A6"/>
                </a:solidFill>
                <a:latin typeface="Segoe UI"/>
              </a:defRPr>
            </a:pPr>
            <a:r>
              <a:t>Unified Multimodal Freight Visibility &amp; Coordination Platform</a:t>
            </a:r>
          </a:p>
          <a:p>
            <a:pPr>
              <a:spcBef>
                <a:spcPts val="2400"/>
              </a:spcBef>
              <a:defRPr sz="1400" i="1">
                <a:solidFill>
                  <a:srgbClr val="94A3B8"/>
                </a:solidFill>
                <a:latin typeface="Segoe UI"/>
              </a:defRPr>
            </a:pPr>
            <a:r>
              <a:t>India's logistics data already exists in ULIP. We are building the proactive intelligence layer that predicts delays and guides operators before they happen, not after.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530352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1F5F9"/>
                </a:solidFill>
                <a:latin typeface="Segoe UI"/>
              </a:defRPr>
            </a:pPr>
            <a:r>
              <a:t>Team: CargoChain Developers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Problem Statement ID: SIH-1234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Ministry of Ports, Shipping and Waterways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Segoe UI"/>
              </a:defRPr>
            </a:pPr>
            <a:r>
              <a:t>The Problem Statement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7548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EA580C"/>
                </a:solidFill>
                <a:latin typeface="Segoe UI"/>
              </a:defRPr>
            </a:pPr>
            <a:r>
              <a:t>High Logistics Cost (~14% GDP)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India's logistics costs stand at ~14% of GDP, compared to 8-9% in developed nations.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This places Indian manufacturing and export sectors at a competitive disadvantage globally.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Segoe UI"/>
              </a:defRPr>
            </a:pPr>
            <a:r>
              <a:t>Siloed Transport Modes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Rail (FOIS), Road (FASTag/Vahan), and Ports (PCS1x) run on fragmented systems.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There is no unified view showing where cargo is during transition legs.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206240"/>
            <a:ext cx="47548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Segoe UI"/>
              </a:defRPr>
            </a:pPr>
            <a:r>
              <a:t>Extreme Handoff bottlenecks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The longest delays happen when cargo transitions between modes (e.g. Road to Rail, Rail to Vessel).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Vehicles wait idle because the next transport leg is not synchronized.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233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4206240"/>
            <a:ext cx="47548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EA580C"/>
                </a:solidFill>
                <a:latin typeface="Segoe UI"/>
              </a:defRPr>
            </a:pPr>
            <a:r>
              <a:t>Downstream Cascading Delays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Delays are realized only after they occur, cascading through subsequent supply chain legs.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Lack of predictive analysis results in reactive adjustments, which multiply expenses.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Segoe UI"/>
              </a:defRPr>
            </a:pPr>
            <a:r>
              <a:t>Existing Landscape &amp; The Crucial Gap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Segoe UI"/>
              </a:defRPr>
            </a:pPr>
            <a:r>
              <a:t>Existing Landscape (Building on It)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ULIP Integration: The government's Unified Logistics Interface Platform integrates 43 systems, 11 ministries, and 129 APIs.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Mode Data Available: Systems like FOIS (Rail), PCS1x (Port), and FASTag/Vahan (Road) are already operational.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Reactive Tracking Solutions: Commercial companies offer GPS vehicle tracking. They show 'where the cargo is' in real-time.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Focus: Pure data connectivity and post-facto status visualization.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45920"/>
            <a:ext cx="5120640" cy="438912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7960" y="1828800"/>
            <a:ext cx="46634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EA580C"/>
                </a:solidFill>
                <a:latin typeface="Segoe UI"/>
              </a:defRPr>
            </a:pPr>
            <a:r>
              <a:t>The Gap: Proactive Optimization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No Proactive Prediction: Current platforms only track. They fail to predict where the cargo will get stuck.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No Coordinated Instructions: Operators receive data but no actionable decisions (e.g. 'hold truck departure').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Lack of Dynamic Handoffs: If a train is delayed, port cargo yards and shipping vessels aren't dynamically scheduled, leading to heavy demurrage.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OUR UNIQUE ANGLE: An Intelligence Layer on top of ULIP that predicts bottleneck delays and tells operators exactly what to 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Segoe UI"/>
              </a:defRPr>
            </a:pPr>
            <a:r>
              <a:t>Proposed Solution &amp; Unique Value Proposition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2926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Segoe UI"/>
              </a:defRPr>
            </a:pPr>
            <a:r>
              <a:t>1. Ingestion Layer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Reads mock and real ULIP, FOIS, FASTag, and PCS1x endpoints.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Aggregates modal records into a single unified JSON state timeline.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Tracks planned vs actual transitions in real-time.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828800"/>
            <a:ext cx="2926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Segoe UI"/>
              </a:defRPr>
            </a:pPr>
            <a:r>
              <a:t>2. ML Prediction Engine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Analyzes historical leg transit and port queue patterns.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Generates handoff-leg delay risk scores (e.g., 72% chance of 4+ hour port wait).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Flags bottlenecks before they happen.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926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Segoe UI"/>
              </a:defRPr>
            </a:pPr>
            <a:r>
              <a:t>3. Coordination Alerts (USP)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Converts risk forecasts into concrete actions.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Tells operators: 'Hold truck departure 90 mins to avoid port queues.'</a:t>
            </a:r>
          </a:p>
          <a:p>
            <a:pPr algn="l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Saves demurrage, waiting times, and transport emission waste.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Segoe UI"/>
              </a:defRPr>
            </a:pPr>
            <a:r>
              <a:t>System Architecture &amp; End-to-End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2011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Segoe UI"/>
              </a:defRPr>
            </a:pPr>
            <a:r>
              <a:t>1. Data Ingest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ULIP API Gateways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FOIS (Rail)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FASTag (Road)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PCS1x (Port)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03320" y="1828800"/>
            <a:ext cx="2011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Segoe UI"/>
              </a:defRPr>
            </a:pPr>
            <a:r>
              <a:t>2. Unified Core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Express Backend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Dynamic JSON DB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Realtime WebSockets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Shipment Timelines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2011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Segoe UI"/>
              </a:defRPr>
            </a:pPr>
            <a:r>
              <a:t>3. ML Engine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Delay Prediction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Leg transit model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Handoff risk scoring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Bottleneck classifier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645920"/>
            <a:ext cx="24688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89720" y="1828800"/>
            <a:ext cx="2011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Segoe UI"/>
              </a:defRPr>
            </a:pPr>
            <a:r>
              <a:t>4. Trust Ledger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Custom Blockchain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SHA-256 blocks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Tamper-proof logs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Verified handovers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46120" y="3657600"/>
            <a:ext cx="182880" cy="2743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989320" y="3657600"/>
            <a:ext cx="182880" cy="2743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8732520" y="3657600"/>
            <a:ext cx="182880" cy="2743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Segoe UI"/>
              </a:defRPr>
            </a:pPr>
            <a:r>
              <a:t>Hero Feature Scenario: Ludhiana to Mundra Port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118872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A580C"/>
                </a:solidFill>
                <a:latin typeface="Segoe UI"/>
              </a:defRPr>
            </a:pPr>
            <a:r>
              <a:t>PROACTIVE DISPATCH HOLD ALERT: [Ludhiana Siding -&gt; Mundra Port]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Action Required: Hold Truck departure from Ludhiana Siding by 90 minutes. Reason: ML model predicts a 6-hour delay in Vessel-Ready status at Mundra Port due to incoming container queue. Holding prevents truck fuel wastage and port yard congestion.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338328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29260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Segoe UI"/>
              </a:defRPr>
            </a:pPr>
            <a:r>
              <a:t>Step 1: Road Origin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Truck loads in Ludhiana.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System polls road GPS &amp; rail siding queue.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Detects rail rake allotment lags.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108960"/>
            <a:ext cx="338328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3291840"/>
            <a:ext cx="29260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Segoe UI"/>
              </a:defRPr>
            </a:pPr>
            <a:r>
              <a:t>Step 2: Predictive Trigger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Predicts a 72% chance of 4+ hour delay at Mundra Port.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Decision engine triggers dispatch hold alert.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Operator notifies driver instantly.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108960"/>
            <a:ext cx="338328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3291840"/>
            <a:ext cx="29260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Segoe UI"/>
              </a:defRPr>
            </a:pPr>
            <a:r>
              <a:t>Step 3: Coordinated Arrival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Truck arrives exactly when train is ready.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Seamless handover to rail rake.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Saves demurrage and waiting times.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Segoe UI"/>
              </a:defRPr>
            </a:pPr>
            <a:r>
              <a:t>Technical Stack (Reflecting CargoChain Codebase)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  <a:gridCol w="4754880"/>
              </a:tblGrid>
              <a:tr h="8229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Technology Used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Role in CargoChain Platform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Frontend 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React 19, Leaflet, Recharts, Tailwind CSS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Interactive dashboard displaying real-time shipment map paths, multimodal timeline transitions, and bottleneck charts.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Backend &amp; Live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Node.js, Express, Socket.io-client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Real-time event synchronization (WebSockets) sending delay risk changes and coordination alerts dynamically to operators.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Security Ledger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Custom Blockchain (SHA-256 blocks in JS)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Provides a transparent, tamper-proof audit trail for cargo handovers (Origin -&gt; Road -&gt; Rail -&gt; Port -&gt; Destination).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Prediction Analytics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Python, Scikit-learn, 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Analyzes historical port dwell time and rail transit delays to compute risk scores for downstream transit legs.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D9488"/>
                </a:solidFill>
                <a:latin typeface="Segoe UI"/>
              </a:defRPr>
            </a:pPr>
            <a:r>
              <a:t>Development Roadmap &amp; Future 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Segoe UI"/>
              </a:defRPr>
            </a:pPr>
            <a:r>
              <a:t>Phase 1: MVP Core (Hackathon Priority)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Completed unified data schema for Road/Rail/Port modes.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Real-time map paths &amp; active WebSocket alerts in React.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Mocking of ULIP API endpoints (FOIS, FASTag, PCS1x) in JSON DB.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6634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Segoe UI"/>
              </a:defRPr>
            </a:pPr>
            <a:r>
              <a:t>Phase 2: Stretch Feature (Ripple Visualizer)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Modeling downstream impact cascade (Gantt ripple visualizer).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Predict how a 2-hour rail delay cascades to port warehouse queue.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Automate alternative carrier re-allocation routing.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1060704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297680"/>
            <a:ext cx="101498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Segoe UI"/>
              </a:defRPr>
            </a:pPr>
            <a:r>
              <a:t>Production Rollout Blueprint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Replace mock APIs with production ULIP Gateway (NICDC Sandbox).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Authenticate FOIS &amp; FASTag credentials for registered transport fleet.</a:t>
            </a:r>
          </a:p>
          <a:p>
            <a:pPr algn="l">
              <a:spcBef>
                <a:spcPts val="800"/>
              </a:spcBef>
              <a:defRPr sz="1200">
                <a:solidFill>
                  <a:srgbClr val="0F172A"/>
                </a:solidFill>
                <a:latin typeface="Segoe UI"/>
              </a:defRPr>
            </a:pPr>
            <a:r>
              <a:t>• Enterprise SaaS model with automated driver WhatsApp alerts.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4B8A6"/>
                </a:solidFill>
                <a:latin typeface="Segoe UI"/>
              </a:defRPr>
            </a:pPr>
            <a:r>
              <a:t>Platform Impact, Feasibility &amp; Vision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34747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4B8A6"/>
                </a:solidFill>
                <a:latin typeface="Segoe UI"/>
              </a:defRPr>
            </a:pPr>
            <a:r>
              <a:t>Logistics GDP Cost Reduction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  <a:latin typeface="Segoe UI"/>
              </a:defRPr>
            </a:pPr>
            <a:r>
              <a:t>• India targets logistics cost reduction from 14% to ~9% GDP.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  <a:latin typeface="Segoe UI"/>
              </a:defRPr>
            </a:pPr>
            <a:r>
              <a:t>• CargoChain directly addresses transition-leg inefficiencies.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  <a:latin typeface="Segoe UI"/>
              </a:defRPr>
            </a:pPr>
            <a:r>
              <a:t>• Potential to reduce port dwell times by 20-30%.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34747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82880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4B8A6"/>
                </a:solidFill>
                <a:latin typeface="Segoe UI"/>
              </a:defRPr>
            </a:pPr>
            <a:r>
              <a:t>Asset Utilization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  <a:latin typeface="Segoe UI"/>
              </a:defRPr>
            </a:pPr>
            <a:r>
              <a:t>• Eliminates truck idle waiting time at ports/sidings.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  <a:latin typeface="Segoe UI"/>
              </a:defRPr>
            </a:pPr>
            <a:r>
              <a:t>• Lowers demurrage fees and container retention charges.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  <a:latin typeface="Segoe UI"/>
              </a:defRPr>
            </a:pPr>
            <a:r>
              <a:t>• Improves carrier operational turnover speed.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34747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A580C"/>
                </a:solidFill>
                <a:latin typeface="Segoe UI"/>
              </a:defRPr>
            </a:pPr>
            <a:r>
              <a:t>Feasible Implementation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  <a:latin typeface="Segoe UI"/>
              </a:defRPr>
            </a:pPr>
            <a:r>
              <a:t>• Builds ON TOP of ULIP rather than replacing it.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  <a:latin typeface="Segoe UI"/>
              </a:defRPr>
            </a:pPr>
            <a:r>
              <a:t>• Blockchain verification blocks disputes in multimodal handovers.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  <a:latin typeface="Segoe UI"/>
              </a:defRPr>
            </a:pPr>
            <a:r>
              <a:t>• High integration feasibility with existing government systems.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1">
                <a:solidFill>
                  <a:srgbClr val="14B8A6"/>
                </a:solidFill>
                <a:latin typeface="Segoe UI"/>
              </a:defRPr>
            </a:pPr>
            <a:r>
              <a:t>India's logistics data is connected. We supply the intelligence layer that makes it actionable.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